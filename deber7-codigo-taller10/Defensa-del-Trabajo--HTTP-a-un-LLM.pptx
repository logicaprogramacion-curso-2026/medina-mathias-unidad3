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60" r:id="rId4"/>
    <p:sldId id="258" r:id="rId5"/>
    <p:sldId id="259" r:id="rId6"/>
  </p:sldIdLst>
  <p:sldSz cx="9144000" cy="5143500" type="screen16x9"/>
  <p:notesSz cx="5143500" cy="9144000"/>
  <p:embeddedFontLst>
    <p:embeddedFont>
      <p:font typeface="Calibri" panose="020F0502020204030204" pitchFamily="34" charset="0"/>
      <p:regular r:id="rId8"/>
      <p:bold r:id="rId9"/>
      <p:italic r:id="rId10"/>
      <p:boldItalic r:id="rId11"/>
    </p:embeddedFont>
    <p:embeddedFont>
      <p:font typeface="Consolas" panose="020B0609020204030204" pitchFamily="49" charset="0"/>
      <p:regular r:id="rId12"/>
      <p:bold r:id="rId13"/>
      <p:italic r:id="rId14"/>
      <p:boldItalic r:id="rId15"/>
    </p:embeddedFont>
    <p:embeddedFont>
      <p:font typeface="DM Sans" panose="020B0604020202020204" charset="0"/>
      <p:regular r:id="rId16"/>
    </p:embeddedFont>
    <p:embeddedFont>
      <p:font typeface="DM Sans Bold" panose="020B0604020202020204" charset="0"/>
      <p:regular r:id="rId17"/>
    </p:embeddedFont>
    <p:embeddedFont>
      <p:font typeface="PT Serif" panose="020A0603040505020204" pitchFamily="18"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37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8884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AFA"/>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svg"/><Relationship Id="rId11" Type="http://schemas.openxmlformats.org/officeDocument/2006/relationships/image" Target="../media/image3.jpe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427485"/>
            <a:ext cx="4722763" cy="1395487"/>
          </a:xfrm>
          <a:prstGeom prst="rect">
            <a:avLst/>
          </a:prstGeom>
          <a:noFill/>
          <a:ln/>
        </p:spPr>
        <p:txBody>
          <a:bodyPr wrap="square" lIns="0" tIns="0" rIns="0" bIns="0" rtlCol="0" anchor="t">
            <a:normAutofit/>
          </a:bodyPr>
          <a:lstStyle/>
          <a:p>
            <a:pPr marL="0" indent="0" algn="l">
              <a:lnSpc>
                <a:spcPct val="104000"/>
              </a:lnSpc>
              <a:buNone/>
            </a:pPr>
            <a:r>
              <a:rPr lang="en-US" sz="2900" dirty="0">
                <a:solidFill>
                  <a:srgbClr val="020202"/>
                </a:solidFill>
                <a:latin typeface="PT Serif" pitchFamily="34" charset="0"/>
                <a:ea typeface="PT Serif" pitchFamily="34" charset="-122"/>
                <a:cs typeface="PT Serif" pitchFamily="34" charset="-120"/>
              </a:rPr>
              <a:t>Defensa del Trabajo: Simulador de Petición HTTP a un LLM</a:t>
            </a:r>
            <a:endParaRPr lang="en-US" sz="2900" dirty="0"/>
          </a:p>
        </p:txBody>
      </p:sp>
      <p:sp>
        <p:nvSpPr>
          <p:cNvPr id="4" name="Text 1"/>
          <p:cNvSpPr/>
          <p:nvPr/>
        </p:nvSpPr>
        <p:spPr>
          <a:xfrm>
            <a:off x="3925119" y="3035573"/>
            <a:ext cx="4722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83838"/>
                </a:solidFill>
                <a:latin typeface="DM Sans" pitchFamily="34" charset="0"/>
                <a:ea typeface="DM Sans" pitchFamily="34" charset="-122"/>
                <a:cs typeface="DM Sans" pitchFamily="34" charset="-120"/>
              </a:rPr>
              <a:t>Presentación breve y clara para explicar el código Python desarrollado: propósito, estructura, flujo y puntos clave para defender tu trabajo ante compañeros y profesorado.</a:t>
            </a:r>
            <a:endParaRPr lang="en-US" sz="1100" dirty="0"/>
          </a:p>
        </p:txBody>
      </p:sp>
      <p:pic>
        <p:nvPicPr>
          <p:cNvPr id="5" name="Picture 2" descr="Hojas en Blanco | PDF">
            <a:extLst>
              <a:ext uri="{FF2B5EF4-FFF2-40B4-BE49-F238E27FC236}">
                <a16:creationId xmlns:a16="http://schemas.microsoft.com/office/drawing/2014/main" id="{538AC692-1D75-4AF7-9287-5C3468697F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375" y="4736037"/>
            <a:ext cx="3857625" cy="382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825749"/>
            <a:ext cx="4722763" cy="372145"/>
          </a:xfrm>
          <a:prstGeom prst="rect">
            <a:avLst/>
          </a:prstGeom>
          <a:noFill/>
          <a:ln/>
        </p:spPr>
        <p:txBody>
          <a:bodyPr wrap="none" lIns="0" tIns="0" rIns="0" bIns="0" rtlCol="0" anchor="t"/>
          <a:lstStyle/>
          <a:p>
            <a:pPr marL="0" indent="0" algn="l">
              <a:lnSpc>
                <a:spcPct val="104000"/>
              </a:lnSpc>
              <a:buNone/>
            </a:pPr>
            <a:r>
              <a:rPr lang="en-US" sz="2300" dirty="0">
                <a:solidFill>
                  <a:srgbClr val="020202"/>
                </a:solidFill>
                <a:latin typeface="PT Serif" pitchFamily="34" charset="0"/>
                <a:ea typeface="PT Serif" pitchFamily="34" charset="-122"/>
                <a:cs typeface="PT Serif" pitchFamily="34" charset="-120"/>
              </a:rPr>
              <a:t>Objetivo del programa</a:t>
            </a:r>
            <a:endParaRPr lang="en-US" sz="2300" dirty="0"/>
          </a:p>
        </p:txBody>
      </p:sp>
      <p:sp>
        <p:nvSpPr>
          <p:cNvPr id="4" name="Text 1"/>
          <p:cNvSpPr/>
          <p:nvPr/>
        </p:nvSpPr>
        <p:spPr>
          <a:xfrm>
            <a:off x="496119" y="2410495"/>
            <a:ext cx="472276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83838"/>
                </a:solidFill>
                <a:latin typeface="DM Sans" pitchFamily="34" charset="0"/>
                <a:ea typeface="DM Sans" pitchFamily="34" charset="-122"/>
                <a:cs typeface="DM Sans" pitchFamily="34" charset="-120"/>
              </a:rPr>
              <a:t>Crear un simulador simple que construye una petición HTTP tipo POST con un prompt de usuario, la envía a un servidor LLM simulado y muestra la respuesta. Ideal para practicar conceptos: funciones, I/O, formateo de cadenas y control de flujo.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97297"/>
            <a:ext cx="8151763" cy="276151"/>
          </a:xfrm>
          <a:prstGeom prst="rect">
            <a:avLst/>
          </a:prstGeom>
          <a:noFill/>
          <a:ln/>
        </p:spPr>
        <p:txBody>
          <a:bodyPr wrap="none" lIns="0" tIns="0" rIns="0" bIns="0" rtlCol="0" anchor="t"/>
          <a:lstStyle/>
          <a:p>
            <a:pPr marL="0" indent="0" algn="l">
              <a:lnSpc>
                <a:spcPct val="104000"/>
              </a:lnSpc>
              <a:buNone/>
            </a:pPr>
            <a:r>
              <a:rPr lang="en-US" sz="1700" dirty="0">
                <a:solidFill>
                  <a:srgbClr val="020202"/>
                </a:solidFill>
                <a:latin typeface="PT Serif" pitchFamily="34" charset="0"/>
                <a:ea typeface="PT Serif" pitchFamily="34" charset="-122"/>
                <a:cs typeface="PT Serif" pitchFamily="34" charset="-120"/>
              </a:rPr>
              <a:t>Ejemplo de código: Implementación</a:t>
            </a:r>
            <a:endParaRPr lang="en-US" sz="1700" dirty="0"/>
          </a:p>
        </p:txBody>
      </p:sp>
      <p:sp>
        <p:nvSpPr>
          <p:cNvPr id="3" name="Text 1"/>
          <p:cNvSpPr/>
          <p:nvPr/>
        </p:nvSpPr>
        <p:spPr>
          <a:xfrm>
            <a:off x="496119" y="773385"/>
            <a:ext cx="8608963" cy="112068"/>
          </a:xfrm>
          <a:prstGeom prst="rect">
            <a:avLst/>
          </a:prstGeom>
          <a:noFill/>
          <a:ln/>
        </p:spPr>
        <p:txBody>
          <a:bodyPr wrap="none" lIns="0" tIns="0" rIns="0" bIns="0" rtlCol="0" anchor="t"/>
          <a:lstStyle/>
          <a:p>
            <a:pPr marL="0" indent="0" algn="l">
              <a:lnSpc>
                <a:spcPct val="106000"/>
              </a:lnSpc>
              <a:buNone/>
            </a:pPr>
            <a:r>
              <a:rPr lang="en-US" sz="650" dirty="0">
                <a:solidFill>
                  <a:srgbClr val="383838"/>
                </a:solidFill>
                <a:latin typeface="DM Sans" pitchFamily="34" charset="0"/>
                <a:ea typeface="DM Sans" pitchFamily="34" charset="-122"/>
                <a:cs typeface="DM Sans" pitchFamily="34" charset="-120"/>
              </a:rPr>
              <a:t>A continuación, se muestra un extracto de la función </a:t>
            </a:r>
            <a:r>
              <a:rPr lang="en-US" sz="650" dirty="0">
                <a:solidFill>
                  <a:srgbClr val="383838"/>
                </a:solidFill>
                <a:highlight>
                  <a:srgbClr val="F2F2F2"/>
                </a:highlight>
                <a:latin typeface="Consolas" pitchFamily="34" charset="0"/>
                <a:ea typeface="Consolas" pitchFamily="34" charset="-122"/>
                <a:cs typeface="Consolas" pitchFamily="34" charset="-120"/>
              </a:rPr>
              <a:t>build_request</a:t>
            </a:r>
            <a:r>
              <a:rPr lang="en-US" sz="650" dirty="0">
                <a:solidFill>
                  <a:srgbClr val="383838"/>
                </a:solidFill>
                <a:latin typeface="DM Sans" pitchFamily="34" charset="0"/>
                <a:ea typeface="DM Sans" pitchFamily="34" charset="-122"/>
                <a:cs typeface="DM Sans" pitchFamily="34" charset="-120"/>
              </a:rPr>
              <a:t>, destacando el uso de f-strings para la creación del cuerpo JSON y la gestión de cabeceras HTTP.</a:t>
            </a:r>
            <a:endParaRPr lang="en-US" sz="650" dirty="0"/>
          </a:p>
        </p:txBody>
      </p:sp>
      <p:sp>
        <p:nvSpPr>
          <p:cNvPr id="4" name="Shape 2"/>
          <p:cNvSpPr/>
          <p:nvPr/>
        </p:nvSpPr>
        <p:spPr>
          <a:xfrm>
            <a:off x="496119" y="941636"/>
            <a:ext cx="8151763" cy="3533701"/>
          </a:xfrm>
          <a:prstGeom prst="roundRect">
            <a:avLst>
              <a:gd name="adj" fmla="val 357"/>
            </a:avLst>
          </a:prstGeom>
          <a:solidFill>
            <a:srgbClr val="F2F2F2"/>
          </a:solidFill>
          <a:ln/>
        </p:spPr>
      </p:sp>
      <p:sp>
        <p:nvSpPr>
          <p:cNvPr id="5" name="Text 3"/>
          <p:cNvSpPr/>
          <p:nvPr/>
        </p:nvSpPr>
        <p:spPr>
          <a:xfrm>
            <a:off x="597098" y="1025798"/>
            <a:ext cx="7949803" cy="3365376"/>
          </a:xfrm>
          <a:prstGeom prst="rect">
            <a:avLst/>
          </a:prstGeom>
          <a:noFill/>
          <a:ln/>
        </p:spPr>
        <p:txBody>
          <a:bodyPr wrap="square" lIns="0" tIns="0" rIns="0" bIns="0" rtlCol="0" anchor="t">
            <a:normAutofit/>
          </a:bodyPr>
          <a:lstStyle/>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def build_request(prompt: str) -&gt; dict:</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Construye una petición HTTP POST simulada para un LLM.</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Utiliza f-strings para formatear el cuerpo JSON de la petición.</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headers =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"Content-Type": "application/json",</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"Authorization": "Bearer YOUR_API_KEY" # Placeholder</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 Usamos f-string para insertar el prompt directamente en el JSON</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body =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"model": "gpt-3.5-turbo",</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"messages":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{"role": "user", "content": f"{prompt}"}</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"max_tokens": 150</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return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"method": "POST",</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"url": "https://api.simulated-llm.com/v1/chat/completions",</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"headers": headers,</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"json_body": body # En un cliente real, esto sería `json.dumps(body)`</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t>
            </a:r>
            <a:endParaRPr lang="en-US" sz="650" dirty="0"/>
          </a:p>
          <a:p>
            <a:pPr marL="0" indent="0" algn="l">
              <a:lnSpc>
                <a:spcPct val="133000"/>
              </a:lnSpc>
              <a:buNone/>
            </a:pPr>
            <a:r>
              <a:rPr lang="en-US" sz="650" dirty="0">
                <a:solidFill>
                  <a:srgbClr val="D73A49"/>
                </a:solidFill>
                <a:latin typeface="Consolas" pitchFamily="34" charset="0"/>
                <a:ea typeface="Consolas" pitchFamily="34" charset="-122"/>
                <a:cs typeface="Consolas" pitchFamily="34" charset="-120"/>
              </a:rPr>
              <a:t>    </a:t>
            </a:r>
            <a:endParaRPr lang="en-US" sz="650" dirty="0"/>
          </a:p>
        </p:txBody>
      </p:sp>
      <p:sp>
        <p:nvSpPr>
          <p:cNvPr id="6" name="Text 4"/>
          <p:cNvSpPr/>
          <p:nvPr/>
        </p:nvSpPr>
        <p:spPr>
          <a:xfrm>
            <a:off x="496119" y="4531519"/>
            <a:ext cx="8151763" cy="214610"/>
          </a:xfrm>
          <a:prstGeom prst="rect">
            <a:avLst/>
          </a:prstGeom>
          <a:noFill/>
          <a:ln/>
        </p:spPr>
        <p:txBody>
          <a:bodyPr wrap="square" lIns="0" tIns="0" rIns="0" bIns="0" rtlCol="0" anchor="t">
            <a:normAutofit/>
          </a:bodyPr>
          <a:lstStyle/>
          <a:p>
            <a:pPr marL="0" indent="0" algn="l">
              <a:lnSpc>
                <a:spcPct val="106000"/>
              </a:lnSpc>
              <a:buNone/>
            </a:pPr>
            <a:r>
              <a:rPr lang="en-US" sz="650" dirty="0">
                <a:solidFill>
                  <a:srgbClr val="383838"/>
                </a:solidFill>
                <a:latin typeface="DM Sans" pitchFamily="34" charset="0"/>
                <a:ea typeface="DM Sans" pitchFamily="34" charset="-122"/>
                <a:cs typeface="DM Sans" pitchFamily="34" charset="-120"/>
              </a:rPr>
              <a:t>Este ejemplo ilustra cómo se utiliza una f-string para incrustar dinámicamente el prompt del usuario en la estructura JSON, un método eficiente para construir datos textuales complejos. La función devuelve un diccionario que simula la petición HTTP completa, listo para ser "enviado".</a:t>
            </a:r>
            <a:endParaRPr lang="en-US" sz="650" dirty="0"/>
          </a:p>
        </p:txBody>
      </p:sp>
      <p:pic>
        <p:nvPicPr>
          <p:cNvPr id="7" name="Picture 2" descr="Hojas en Blanco | PDF">
            <a:extLst>
              <a:ext uri="{FF2B5EF4-FFF2-40B4-BE49-F238E27FC236}">
                <a16:creationId xmlns:a16="http://schemas.microsoft.com/office/drawing/2014/main" id="{62356AA1-02F0-4AF6-8C23-647CC09EC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75" y="4736037"/>
            <a:ext cx="3857625" cy="382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301353"/>
          </a:xfrm>
          <a:prstGeom prst="rect">
            <a:avLst/>
          </a:prstGeom>
        </p:spPr>
      </p:pic>
      <p:sp>
        <p:nvSpPr>
          <p:cNvPr id="3" name="Text 0"/>
          <p:cNvSpPr/>
          <p:nvPr/>
        </p:nvSpPr>
        <p:spPr>
          <a:xfrm>
            <a:off x="496119" y="1723653"/>
            <a:ext cx="8151763" cy="341635"/>
          </a:xfrm>
          <a:prstGeom prst="rect">
            <a:avLst/>
          </a:prstGeom>
          <a:noFill/>
          <a:ln/>
        </p:spPr>
        <p:txBody>
          <a:bodyPr wrap="none" lIns="0" tIns="0" rIns="0" bIns="0" rtlCol="0" anchor="t"/>
          <a:lstStyle/>
          <a:p>
            <a:pPr marL="0" indent="0" algn="l">
              <a:lnSpc>
                <a:spcPct val="104000"/>
              </a:lnSpc>
              <a:buNone/>
            </a:pPr>
            <a:r>
              <a:rPr lang="en-US" sz="2150" dirty="0">
                <a:solidFill>
                  <a:srgbClr val="020202"/>
                </a:solidFill>
                <a:latin typeface="PT Serif" pitchFamily="34" charset="0"/>
                <a:ea typeface="PT Serif" pitchFamily="34" charset="-122"/>
                <a:cs typeface="PT Serif" pitchFamily="34" charset="-120"/>
              </a:rPr>
              <a:t>Estructura del Código: Funciones Clave y Flujo de Ejecución</a:t>
            </a:r>
            <a:endParaRPr lang="en-US" sz="2150" dirty="0"/>
          </a:p>
        </p:txBody>
      </p:sp>
      <p:sp>
        <p:nvSpPr>
          <p:cNvPr id="4" name="Text 1"/>
          <p:cNvSpPr/>
          <p:nvPr/>
        </p:nvSpPr>
        <p:spPr>
          <a:xfrm>
            <a:off x="496119" y="2179960"/>
            <a:ext cx="8151763" cy="288875"/>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83838"/>
                </a:solidFill>
                <a:latin typeface="DM Sans" pitchFamily="34" charset="0"/>
                <a:ea typeface="DM Sans" pitchFamily="34" charset="-122"/>
                <a:cs typeface="DM Sans" pitchFamily="34" charset="-120"/>
              </a:rPr>
              <a:t>El simulador se organiza en funciones modulares que gestionan la creación, envío y procesamiento de la petición al LLM. Cada una tiene una responsabilidad clara, facilitando la comprensión y el mantenimiento.</a:t>
            </a:r>
            <a:endParaRPr lang="en-US" sz="8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119" y="2554784"/>
            <a:ext cx="4037633" cy="1044997"/>
          </a:xfrm>
          <a:prstGeom prst="rect">
            <a:avLst/>
          </a:prstGeom>
        </p:spPr>
      </p:pic>
      <p:sp>
        <p:nvSpPr>
          <p:cNvPr id="6" name="Text 2"/>
          <p:cNvSpPr/>
          <p:nvPr/>
        </p:nvSpPr>
        <p:spPr>
          <a:xfrm>
            <a:off x="2452427" y="2632844"/>
            <a:ext cx="124867" cy="156121"/>
          </a:xfrm>
          <a:prstGeom prst="rect">
            <a:avLst/>
          </a:prstGeom>
          <a:noFill/>
          <a:ln/>
        </p:spPr>
        <p:txBody>
          <a:bodyPr wrap="none" lIns="0" tIns="0" rIns="0" bIns="0" rtlCol="0" anchor="ctr"/>
          <a:lstStyle/>
          <a:p>
            <a:pPr marL="0" indent="0" algn="ctr">
              <a:lnSpc>
                <a:spcPct val="100000"/>
              </a:lnSpc>
              <a:buNone/>
            </a:pPr>
            <a:r>
              <a:rPr lang="en-US" sz="950" dirty="0">
                <a:solidFill>
                  <a:srgbClr val="FFFFFF"/>
                </a:solidFill>
                <a:latin typeface="PT Serif" pitchFamily="34" charset="0"/>
                <a:ea typeface="PT Serif" pitchFamily="34" charset="-122"/>
                <a:cs typeface="PT Serif" pitchFamily="34" charset="-120"/>
              </a:rPr>
              <a:t>1</a:t>
            </a:r>
            <a:endParaRPr lang="en-US" sz="950" dirty="0"/>
          </a:p>
        </p:txBody>
      </p:sp>
      <p:sp>
        <p:nvSpPr>
          <p:cNvPr id="7" name="Text 3"/>
          <p:cNvSpPr/>
          <p:nvPr/>
        </p:nvSpPr>
        <p:spPr>
          <a:xfrm>
            <a:off x="614511" y="2971130"/>
            <a:ext cx="3800847" cy="175543"/>
          </a:xfrm>
          <a:prstGeom prst="rect">
            <a:avLst/>
          </a:prstGeom>
          <a:noFill/>
          <a:ln/>
        </p:spPr>
        <p:txBody>
          <a:bodyPr wrap="none" lIns="0" tIns="0" rIns="0" bIns="0" rtlCol="0" anchor="t"/>
          <a:lstStyle/>
          <a:p>
            <a:pPr marL="0" indent="0" algn="l">
              <a:lnSpc>
                <a:spcPct val="104000"/>
              </a:lnSpc>
              <a:buNone/>
            </a:pPr>
            <a:r>
              <a:rPr lang="en-US" sz="1050" dirty="0">
                <a:solidFill>
                  <a:srgbClr val="383838"/>
                </a:solidFill>
                <a:highlight>
                  <a:srgbClr val="F2F2F2"/>
                </a:highlight>
                <a:latin typeface="Consolas" pitchFamily="34" charset="0"/>
                <a:ea typeface="Consolas" pitchFamily="34" charset="-122"/>
                <a:cs typeface="Consolas" pitchFamily="34" charset="-120"/>
              </a:rPr>
              <a:t>main()</a:t>
            </a:r>
            <a:endParaRPr lang="en-US" sz="1050" dirty="0"/>
          </a:p>
        </p:txBody>
      </p:sp>
      <p:sp>
        <p:nvSpPr>
          <p:cNvPr id="8" name="Text 4"/>
          <p:cNvSpPr/>
          <p:nvPr/>
        </p:nvSpPr>
        <p:spPr>
          <a:xfrm>
            <a:off x="614511" y="3192512"/>
            <a:ext cx="3800847" cy="288875"/>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83838"/>
                </a:solidFill>
                <a:latin typeface="DM Sans" pitchFamily="34" charset="0"/>
                <a:ea typeface="DM Sans" pitchFamily="34" charset="-122"/>
                <a:cs typeface="DM Sans" pitchFamily="34" charset="-120"/>
              </a:rPr>
              <a:t>Punto de entrada principal. Coordina la interacción con el usuario y la ejecución de las demás funciones.</a:t>
            </a:r>
            <a:endParaRPr lang="en-US" sz="800" dirty="0"/>
          </a:p>
        </p:txBody>
      </p:sp>
      <p:pic>
        <p:nvPicPr>
          <p:cNvPr id="9"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10174" y="2554784"/>
            <a:ext cx="4037707" cy="1044997"/>
          </a:xfrm>
          <a:prstGeom prst="rect">
            <a:avLst/>
          </a:prstGeom>
        </p:spPr>
      </p:pic>
      <p:sp>
        <p:nvSpPr>
          <p:cNvPr id="10" name="Text 5"/>
          <p:cNvSpPr/>
          <p:nvPr/>
        </p:nvSpPr>
        <p:spPr>
          <a:xfrm>
            <a:off x="6566557" y="2632844"/>
            <a:ext cx="124867" cy="156121"/>
          </a:xfrm>
          <a:prstGeom prst="rect">
            <a:avLst/>
          </a:prstGeom>
          <a:noFill/>
          <a:ln/>
        </p:spPr>
        <p:txBody>
          <a:bodyPr wrap="none" lIns="0" tIns="0" rIns="0" bIns="0" rtlCol="0" anchor="ctr"/>
          <a:lstStyle/>
          <a:p>
            <a:pPr marL="0" indent="0" algn="ctr">
              <a:lnSpc>
                <a:spcPct val="100000"/>
              </a:lnSpc>
              <a:buNone/>
            </a:pPr>
            <a:r>
              <a:rPr lang="en-US" sz="950" dirty="0">
                <a:solidFill>
                  <a:srgbClr val="FFFFFF"/>
                </a:solidFill>
                <a:latin typeface="PT Serif" pitchFamily="34" charset="0"/>
                <a:ea typeface="PT Serif" pitchFamily="34" charset="-122"/>
                <a:cs typeface="PT Serif" pitchFamily="34" charset="-120"/>
              </a:rPr>
              <a:t>2</a:t>
            </a:r>
            <a:endParaRPr lang="en-US" sz="950" dirty="0"/>
          </a:p>
        </p:txBody>
      </p:sp>
      <p:sp>
        <p:nvSpPr>
          <p:cNvPr id="11" name="Text 6"/>
          <p:cNvSpPr/>
          <p:nvPr/>
        </p:nvSpPr>
        <p:spPr>
          <a:xfrm>
            <a:off x="4728567" y="2971130"/>
            <a:ext cx="3800921" cy="175543"/>
          </a:xfrm>
          <a:prstGeom prst="rect">
            <a:avLst/>
          </a:prstGeom>
          <a:noFill/>
          <a:ln/>
        </p:spPr>
        <p:txBody>
          <a:bodyPr wrap="none" lIns="0" tIns="0" rIns="0" bIns="0" rtlCol="0" anchor="t"/>
          <a:lstStyle/>
          <a:p>
            <a:pPr marL="0" indent="0" algn="l">
              <a:lnSpc>
                <a:spcPct val="104000"/>
              </a:lnSpc>
              <a:buNone/>
            </a:pPr>
            <a:r>
              <a:rPr lang="en-US" sz="1050" dirty="0">
                <a:solidFill>
                  <a:srgbClr val="383838"/>
                </a:solidFill>
                <a:highlight>
                  <a:srgbClr val="F2F2F2"/>
                </a:highlight>
                <a:latin typeface="Consolas" pitchFamily="34" charset="0"/>
                <a:ea typeface="Consolas" pitchFamily="34" charset="-122"/>
                <a:cs typeface="Consolas" pitchFamily="34" charset="-120"/>
              </a:rPr>
              <a:t>build_request(prompt)</a:t>
            </a:r>
            <a:endParaRPr lang="en-US" sz="1050" dirty="0"/>
          </a:p>
        </p:txBody>
      </p:sp>
      <p:sp>
        <p:nvSpPr>
          <p:cNvPr id="12" name="Text 7"/>
          <p:cNvSpPr/>
          <p:nvPr/>
        </p:nvSpPr>
        <p:spPr>
          <a:xfrm>
            <a:off x="4728567" y="3192512"/>
            <a:ext cx="3800921" cy="288875"/>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83838"/>
                </a:solidFill>
                <a:latin typeface="DM Sans" pitchFamily="34" charset="0"/>
                <a:ea typeface="DM Sans" pitchFamily="34" charset="-122"/>
                <a:cs typeface="DM Sans" pitchFamily="34" charset="-120"/>
              </a:rPr>
              <a:t>Encargada de formatear el prompt del usuario en una petición HTTP POST, con sus cabeceras y cuerpo JSON.</a:t>
            </a:r>
            <a:endParaRPr lang="en-US" sz="800" dirty="0"/>
          </a:p>
        </p:txBody>
      </p:sp>
      <p:pic>
        <p:nvPicPr>
          <p:cNvPr id="13"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119" y="3676204"/>
            <a:ext cx="4037633" cy="1044997"/>
          </a:xfrm>
          <a:prstGeom prst="rect">
            <a:avLst/>
          </a:prstGeom>
        </p:spPr>
      </p:pic>
      <p:sp>
        <p:nvSpPr>
          <p:cNvPr id="14" name="Text 8"/>
          <p:cNvSpPr/>
          <p:nvPr/>
        </p:nvSpPr>
        <p:spPr>
          <a:xfrm>
            <a:off x="2452427" y="3754264"/>
            <a:ext cx="124867" cy="156121"/>
          </a:xfrm>
          <a:prstGeom prst="rect">
            <a:avLst/>
          </a:prstGeom>
          <a:noFill/>
          <a:ln/>
        </p:spPr>
        <p:txBody>
          <a:bodyPr wrap="none" lIns="0" tIns="0" rIns="0" bIns="0" rtlCol="0" anchor="ctr"/>
          <a:lstStyle/>
          <a:p>
            <a:pPr marL="0" indent="0" algn="ctr">
              <a:lnSpc>
                <a:spcPct val="100000"/>
              </a:lnSpc>
              <a:buNone/>
            </a:pPr>
            <a:r>
              <a:rPr lang="en-US" sz="950" dirty="0">
                <a:solidFill>
                  <a:srgbClr val="FFFFFF"/>
                </a:solidFill>
                <a:latin typeface="PT Serif" pitchFamily="34" charset="0"/>
                <a:ea typeface="PT Serif" pitchFamily="34" charset="-122"/>
                <a:cs typeface="PT Serif" pitchFamily="34" charset="-120"/>
              </a:rPr>
              <a:t>3</a:t>
            </a:r>
            <a:endParaRPr lang="en-US" sz="950" dirty="0"/>
          </a:p>
        </p:txBody>
      </p:sp>
      <p:sp>
        <p:nvSpPr>
          <p:cNvPr id="15" name="Text 9"/>
          <p:cNvSpPr/>
          <p:nvPr/>
        </p:nvSpPr>
        <p:spPr>
          <a:xfrm>
            <a:off x="614511" y="4092550"/>
            <a:ext cx="3800847" cy="175543"/>
          </a:xfrm>
          <a:prstGeom prst="rect">
            <a:avLst/>
          </a:prstGeom>
          <a:noFill/>
          <a:ln/>
        </p:spPr>
        <p:txBody>
          <a:bodyPr wrap="none" lIns="0" tIns="0" rIns="0" bIns="0" rtlCol="0" anchor="t"/>
          <a:lstStyle/>
          <a:p>
            <a:pPr marL="0" indent="0" algn="l">
              <a:lnSpc>
                <a:spcPct val="104000"/>
              </a:lnSpc>
              <a:buNone/>
            </a:pPr>
            <a:r>
              <a:rPr lang="en-US" sz="1050" dirty="0">
                <a:solidFill>
                  <a:srgbClr val="383838"/>
                </a:solidFill>
                <a:highlight>
                  <a:srgbClr val="F2F2F2"/>
                </a:highlight>
                <a:latin typeface="Consolas" pitchFamily="34" charset="0"/>
                <a:ea typeface="Consolas" pitchFamily="34" charset="-122"/>
                <a:cs typeface="Consolas" pitchFamily="34" charset="-120"/>
              </a:rPr>
              <a:t>send_request(request_data)</a:t>
            </a:r>
            <a:endParaRPr lang="en-US" sz="1050" dirty="0"/>
          </a:p>
        </p:txBody>
      </p:sp>
      <p:sp>
        <p:nvSpPr>
          <p:cNvPr id="16" name="Text 10"/>
          <p:cNvSpPr/>
          <p:nvPr/>
        </p:nvSpPr>
        <p:spPr>
          <a:xfrm>
            <a:off x="614511" y="4313932"/>
            <a:ext cx="3800847" cy="288875"/>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83838"/>
                </a:solidFill>
                <a:latin typeface="DM Sans" pitchFamily="34" charset="0"/>
                <a:ea typeface="DM Sans" pitchFamily="34" charset="-122"/>
                <a:cs typeface="DM Sans" pitchFamily="34" charset="-120"/>
              </a:rPr>
              <a:t>Simula el envío de la petición al servidor LLM y devuelve una respuesta simulada con un formato predefinido.</a:t>
            </a:r>
            <a:endParaRPr lang="en-US" sz="800" dirty="0"/>
          </a:p>
        </p:txBody>
      </p:sp>
      <p:pic>
        <p:nvPicPr>
          <p:cNvPr id="17"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10174" y="3676204"/>
            <a:ext cx="4037707" cy="1044997"/>
          </a:xfrm>
          <a:prstGeom prst="rect">
            <a:avLst/>
          </a:prstGeom>
        </p:spPr>
      </p:pic>
      <p:sp>
        <p:nvSpPr>
          <p:cNvPr id="18" name="Text 11"/>
          <p:cNvSpPr/>
          <p:nvPr/>
        </p:nvSpPr>
        <p:spPr>
          <a:xfrm>
            <a:off x="6566557" y="3754264"/>
            <a:ext cx="124867" cy="156121"/>
          </a:xfrm>
          <a:prstGeom prst="rect">
            <a:avLst/>
          </a:prstGeom>
          <a:noFill/>
          <a:ln/>
        </p:spPr>
        <p:txBody>
          <a:bodyPr wrap="none" lIns="0" tIns="0" rIns="0" bIns="0" rtlCol="0" anchor="ctr"/>
          <a:lstStyle/>
          <a:p>
            <a:pPr marL="0" indent="0" algn="ctr">
              <a:lnSpc>
                <a:spcPct val="100000"/>
              </a:lnSpc>
              <a:buNone/>
            </a:pPr>
            <a:r>
              <a:rPr lang="en-US" sz="950" dirty="0">
                <a:solidFill>
                  <a:srgbClr val="FFFFFF"/>
                </a:solidFill>
                <a:latin typeface="PT Serif" pitchFamily="34" charset="0"/>
                <a:ea typeface="PT Serif" pitchFamily="34" charset="-122"/>
                <a:cs typeface="PT Serif" pitchFamily="34" charset="-120"/>
              </a:rPr>
              <a:t>4</a:t>
            </a:r>
            <a:endParaRPr lang="en-US" sz="950" dirty="0"/>
          </a:p>
        </p:txBody>
      </p:sp>
      <p:sp>
        <p:nvSpPr>
          <p:cNvPr id="19" name="Text 12"/>
          <p:cNvSpPr/>
          <p:nvPr/>
        </p:nvSpPr>
        <p:spPr>
          <a:xfrm>
            <a:off x="4728567" y="4092550"/>
            <a:ext cx="3800921" cy="175543"/>
          </a:xfrm>
          <a:prstGeom prst="rect">
            <a:avLst/>
          </a:prstGeom>
          <a:noFill/>
          <a:ln/>
        </p:spPr>
        <p:txBody>
          <a:bodyPr wrap="none" lIns="0" tIns="0" rIns="0" bIns="0" rtlCol="0" anchor="t"/>
          <a:lstStyle/>
          <a:p>
            <a:pPr marL="0" indent="0" algn="l">
              <a:lnSpc>
                <a:spcPct val="104000"/>
              </a:lnSpc>
              <a:buNone/>
            </a:pPr>
            <a:r>
              <a:rPr lang="en-US" sz="1050" dirty="0">
                <a:solidFill>
                  <a:srgbClr val="383838"/>
                </a:solidFill>
                <a:highlight>
                  <a:srgbClr val="F2F2F2"/>
                </a:highlight>
                <a:latin typeface="Consolas" pitchFamily="34" charset="0"/>
                <a:ea typeface="Consolas" pitchFamily="34" charset="-122"/>
                <a:cs typeface="Consolas" pitchFamily="34" charset="-120"/>
              </a:rPr>
              <a:t>display_response(response)</a:t>
            </a:r>
            <a:endParaRPr lang="en-US" sz="1050" dirty="0"/>
          </a:p>
        </p:txBody>
      </p:sp>
      <p:sp>
        <p:nvSpPr>
          <p:cNvPr id="20" name="Text 13"/>
          <p:cNvSpPr/>
          <p:nvPr/>
        </p:nvSpPr>
        <p:spPr>
          <a:xfrm>
            <a:off x="4728567" y="4313932"/>
            <a:ext cx="3800921" cy="288875"/>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383838"/>
                </a:solidFill>
                <a:latin typeface="DM Sans" pitchFamily="34" charset="0"/>
                <a:ea typeface="DM Sans" pitchFamily="34" charset="-122"/>
                <a:cs typeface="DM Sans" pitchFamily="34" charset="-120"/>
              </a:rPr>
              <a:t>Procesa la respuesta recibida del LLM simulado y la muestra de forma legible para el usuario.</a:t>
            </a:r>
            <a:endParaRPr lang="en-US" sz="800" dirty="0"/>
          </a:p>
        </p:txBody>
      </p:sp>
      <p:pic>
        <p:nvPicPr>
          <p:cNvPr id="21" name="Picture 2" descr="Hojas en Blanco | PDF">
            <a:extLst>
              <a:ext uri="{FF2B5EF4-FFF2-40B4-BE49-F238E27FC236}">
                <a16:creationId xmlns:a16="http://schemas.microsoft.com/office/drawing/2014/main" id="{FD72F960-4149-46D1-BD88-1771AE8165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6375" y="4736037"/>
            <a:ext cx="3857625" cy="382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31378"/>
            <a:ext cx="8151763" cy="348853"/>
          </a:xfrm>
          <a:prstGeom prst="rect">
            <a:avLst/>
          </a:prstGeom>
          <a:noFill/>
          <a:ln/>
        </p:spPr>
        <p:txBody>
          <a:bodyPr wrap="none" lIns="0" tIns="0" rIns="0" bIns="0" rtlCol="0" anchor="t"/>
          <a:lstStyle/>
          <a:p>
            <a:pPr marL="0" indent="0" algn="l">
              <a:lnSpc>
                <a:spcPct val="104000"/>
              </a:lnSpc>
              <a:buNone/>
            </a:pPr>
            <a:r>
              <a:rPr lang="en-US" sz="2150" dirty="0">
                <a:solidFill>
                  <a:srgbClr val="020202"/>
                </a:solidFill>
                <a:latin typeface="PT Serif" pitchFamily="34" charset="0"/>
                <a:ea typeface="PT Serif" pitchFamily="34" charset="-122"/>
                <a:cs typeface="PT Serif" pitchFamily="34" charset="-120"/>
              </a:rPr>
              <a:t>Puntos clave: Buenas prácticas, limitaciones y mejoras futuras</a:t>
            </a:r>
            <a:endParaRPr lang="en-US" sz="2150" dirty="0"/>
          </a:p>
        </p:txBody>
      </p:sp>
      <p:sp>
        <p:nvSpPr>
          <p:cNvPr id="3" name="Text 1"/>
          <p:cNvSpPr/>
          <p:nvPr/>
        </p:nvSpPr>
        <p:spPr>
          <a:xfrm>
            <a:off x="496119" y="1029370"/>
            <a:ext cx="8151763"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383838"/>
                </a:solidFill>
                <a:latin typeface="DM Sans" pitchFamily="34" charset="0"/>
                <a:ea typeface="DM Sans" pitchFamily="34" charset="-122"/>
                <a:cs typeface="DM Sans" pitchFamily="34" charset="-120"/>
              </a:rPr>
              <a:t>Para cualquier desarrollo de software, es crucial reflexionar sobre la calidad del código, sus deficiencias actuales y el potencial de evolución.</a:t>
            </a:r>
            <a:endParaRPr lang="en-US" sz="10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581448"/>
            <a:ext cx="2634183" cy="3130600"/>
          </a:xfrm>
          <a:prstGeom prst="rect">
            <a:avLst/>
          </a:prstGeom>
        </p:spPr>
      </p:pic>
      <p:pic>
        <p:nvPicPr>
          <p:cNvPr id="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33401" y="1701031"/>
            <a:ext cx="159469" cy="159469"/>
          </a:xfrm>
          <a:prstGeom prst="rect">
            <a:avLst/>
          </a:prstGeom>
        </p:spPr>
      </p:pic>
      <p:sp>
        <p:nvSpPr>
          <p:cNvPr id="6" name="Text 2"/>
          <p:cNvSpPr/>
          <p:nvPr/>
        </p:nvSpPr>
        <p:spPr>
          <a:xfrm>
            <a:off x="643310" y="2113062"/>
            <a:ext cx="2339801" cy="43606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383838"/>
                </a:solidFill>
                <a:latin typeface="PT Serif" pitchFamily="34" charset="0"/>
                <a:ea typeface="PT Serif" pitchFamily="34" charset="-122"/>
                <a:cs typeface="PT Serif" pitchFamily="34" charset="-120"/>
              </a:rPr>
              <a:t>Buenas prácticas implementadas</a:t>
            </a:r>
            <a:endParaRPr lang="en-US" sz="1350" dirty="0"/>
          </a:p>
        </p:txBody>
      </p:sp>
      <p:sp>
        <p:nvSpPr>
          <p:cNvPr id="7" name="Text 3"/>
          <p:cNvSpPr/>
          <p:nvPr/>
        </p:nvSpPr>
        <p:spPr>
          <a:xfrm>
            <a:off x="643310" y="2623840"/>
            <a:ext cx="2339801" cy="1941016"/>
          </a:xfrm>
          <a:prstGeom prst="rect">
            <a:avLst/>
          </a:prstGeom>
          <a:noFill/>
          <a:ln/>
        </p:spPr>
        <p:txBody>
          <a:bodyPr wrap="square" lIns="0" tIns="0" rIns="0" bIns="0" rtlCol="0" anchor="t">
            <a:normAutofit/>
          </a:bodyPr>
          <a:lstStyle/>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Modularidad:</a:t>
            </a:r>
            <a:r>
              <a:rPr lang="en-US" sz="1000" dirty="0">
                <a:solidFill>
                  <a:srgbClr val="383838"/>
                </a:solidFill>
                <a:latin typeface="DM Sans" pitchFamily="34" charset="0"/>
                <a:ea typeface="DM Sans" pitchFamily="34" charset="-122"/>
                <a:cs typeface="DM Sans" pitchFamily="34" charset="-120"/>
              </a:rPr>
              <a:t> Funciones claras y separadas para cada tarea.</a:t>
            </a:r>
            <a:endParaRPr lang="en-US" sz="1000" dirty="0"/>
          </a:p>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Legibilidad:</a:t>
            </a:r>
            <a:r>
              <a:rPr lang="en-US" sz="1000" dirty="0">
                <a:solidFill>
                  <a:srgbClr val="383838"/>
                </a:solidFill>
                <a:latin typeface="DM Sans" pitchFamily="34" charset="0"/>
                <a:ea typeface="DM Sans" pitchFamily="34" charset="-122"/>
                <a:cs typeface="DM Sans" pitchFamily="34" charset="-120"/>
              </a:rPr>
              <a:t> Comentarios explicativos y nombres de variables descriptivos.</a:t>
            </a:r>
            <a:endParaRPr lang="en-US" sz="1000" dirty="0"/>
          </a:p>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Manejo de errores:</a:t>
            </a:r>
            <a:r>
              <a:rPr lang="en-US" sz="1000" dirty="0">
                <a:solidFill>
                  <a:srgbClr val="383838"/>
                </a:solidFill>
                <a:latin typeface="DM Sans" pitchFamily="34" charset="0"/>
                <a:ea typeface="DM Sans" pitchFamily="34" charset="-122"/>
                <a:cs typeface="DM Sans" pitchFamily="34" charset="-120"/>
              </a:rPr>
              <a:t> Captura de excepciones básicas para entradas de usuario y comunicación HTTP.</a:t>
            </a:r>
            <a:endParaRPr lang="en-US" sz="1000" dirty="0"/>
          </a:p>
        </p:txBody>
      </p:sp>
      <p:pic>
        <p:nvPicPr>
          <p:cNvPr id="8"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4871" y="1581448"/>
            <a:ext cx="2634183" cy="3130600"/>
          </a:xfrm>
          <a:prstGeom prst="rect">
            <a:avLst/>
          </a:prstGeom>
        </p:spPr>
      </p:pic>
      <p:pic>
        <p:nvPicPr>
          <p:cNvPr id="9"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92154" y="1701031"/>
            <a:ext cx="159469" cy="159469"/>
          </a:xfrm>
          <a:prstGeom prst="rect">
            <a:avLst/>
          </a:prstGeom>
        </p:spPr>
      </p:pic>
      <p:sp>
        <p:nvSpPr>
          <p:cNvPr id="10" name="Text 4"/>
          <p:cNvSpPr/>
          <p:nvPr/>
        </p:nvSpPr>
        <p:spPr>
          <a:xfrm>
            <a:off x="3402062" y="2113062"/>
            <a:ext cx="2339801" cy="218033"/>
          </a:xfrm>
          <a:prstGeom prst="rect">
            <a:avLst/>
          </a:prstGeom>
          <a:noFill/>
          <a:ln/>
        </p:spPr>
        <p:txBody>
          <a:bodyPr wrap="none" lIns="0" tIns="0" rIns="0" bIns="0" rtlCol="0" anchor="t"/>
          <a:lstStyle/>
          <a:p>
            <a:pPr marL="0" indent="0" algn="l">
              <a:lnSpc>
                <a:spcPct val="104000"/>
              </a:lnSpc>
              <a:buNone/>
            </a:pPr>
            <a:r>
              <a:rPr lang="en-US" sz="1350" dirty="0">
                <a:solidFill>
                  <a:srgbClr val="383838"/>
                </a:solidFill>
                <a:latin typeface="PT Serif" pitchFamily="34" charset="0"/>
                <a:ea typeface="PT Serif" pitchFamily="34" charset="-122"/>
                <a:cs typeface="PT Serif" pitchFamily="34" charset="-120"/>
              </a:rPr>
              <a:t>Limitaciones actuales</a:t>
            </a:r>
            <a:endParaRPr lang="en-US" sz="1350" dirty="0"/>
          </a:p>
        </p:txBody>
      </p:sp>
      <p:sp>
        <p:nvSpPr>
          <p:cNvPr id="11" name="Text 5"/>
          <p:cNvSpPr/>
          <p:nvPr/>
        </p:nvSpPr>
        <p:spPr>
          <a:xfrm>
            <a:off x="3402062" y="2405807"/>
            <a:ext cx="2339801" cy="1735038"/>
          </a:xfrm>
          <a:prstGeom prst="rect">
            <a:avLst/>
          </a:prstGeom>
          <a:noFill/>
          <a:ln/>
        </p:spPr>
        <p:txBody>
          <a:bodyPr wrap="square" lIns="0" tIns="0" rIns="0" bIns="0" rtlCol="0" anchor="t">
            <a:normAutofit/>
          </a:bodyPr>
          <a:lstStyle/>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LLM simulado:</a:t>
            </a:r>
            <a:r>
              <a:rPr lang="en-US" sz="1000" dirty="0">
                <a:solidFill>
                  <a:srgbClr val="383838"/>
                </a:solidFill>
                <a:latin typeface="DM Sans" pitchFamily="34" charset="0"/>
                <a:ea typeface="DM Sans" pitchFamily="34" charset="-122"/>
                <a:cs typeface="DM Sans" pitchFamily="34" charset="-120"/>
              </a:rPr>
              <a:t> No hay interacción con un modelo de lenguaje real.</a:t>
            </a:r>
            <a:endParaRPr lang="en-US" sz="1000" dirty="0"/>
          </a:p>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Seguridad:</a:t>
            </a:r>
            <a:r>
              <a:rPr lang="en-US" sz="1000" dirty="0">
                <a:solidFill>
                  <a:srgbClr val="383838"/>
                </a:solidFill>
                <a:latin typeface="DM Sans" pitchFamily="34" charset="0"/>
                <a:ea typeface="DM Sans" pitchFamily="34" charset="-122"/>
                <a:cs typeface="DM Sans" pitchFamily="34" charset="-120"/>
              </a:rPr>
              <a:t> No incluye autenticación, validación avanzada de entrada o cifrado.</a:t>
            </a:r>
            <a:endParaRPr lang="en-US" sz="1000" dirty="0"/>
          </a:p>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Escalabilidad:</a:t>
            </a:r>
            <a:r>
              <a:rPr lang="en-US" sz="1000" dirty="0">
                <a:solidFill>
                  <a:srgbClr val="383838"/>
                </a:solidFill>
                <a:latin typeface="DM Sans" pitchFamily="34" charset="0"/>
                <a:ea typeface="DM Sans" pitchFamily="34" charset="-122"/>
                <a:cs typeface="DM Sans" pitchFamily="34" charset="-120"/>
              </a:rPr>
              <a:t> Diseñado para uso local, no para grandes volúmenes de peticiones.</a:t>
            </a:r>
            <a:endParaRPr lang="en-US" sz="1000" dirty="0"/>
          </a:p>
        </p:txBody>
      </p:sp>
      <p:pic>
        <p:nvPicPr>
          <p:cNvPr id="12"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3624" y="1581448"/>
            <a:ext cx="2634183" cy="3130600"/>
          </a:xfrm>
          <a:prstGeom prst="rect">
            <a:avLst/>
          </a:prstGeom>
        </p:spPr>
      </p:pic>
      <p:pic>
        <p:nvPicPr>
          <p:cNvPr id="13" name="Image 5"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50906" y="1701031"/>
            <a:ext cx="159469" cy="159469"/>
          </a:xfrm>
          <a:prstGeom prst="rect">
            <a:avLst/>
          </a:prstGeom>
        </p:spPr>
      </p:pic>
      <p:sp>
        <p:nvSpPr>
          <p:cNvPr id="14" name="Text 6"/>
          <p:cNvSpPr/>
          <p:nvPr/>
        </p:nvSpPr>
        <p:spPr>
          <a:xfrm>
            <a:off x="6160815" y="2113062"/>
            <a:ext cx="2339801" cy="218033"/>
          </a:xfrm>
          <a:prstGeom prst="rect">
            <a:avLst/>
          </a:prstGeom>
          <a:noFill/>
          <a:ln/>
        </p:spPr>
        <p:txBody>
          <a:bodyPr wrap="none" lIns="0" tIns="0" rIns="0" bIns="0" rtlCol="0" anchor="t"/>
          <a:lstStyle/>
          <a:p>
            <a:pPr marL="0" indent="0" algn="l">
              <a:lnSpc>
                <a:spcPct val="104000"/>
              </a:lnSpc>
              <a:buNone/>
            </a:pPr>
            <a:r>
              <a:rPr lang="en-US" sz="1350" dirty="0">
                <a:solidFill>
                  <a:srgbClr val="383838"/>
                </a:solidFill>
                <a:latin typeface="PT Serif" pitchFamily="34" charset="0"/>
                <a:ea typeface="PT Serif" pitchFamily="34" charset="-122"/>
                <a:cs typeface="PT Serif" pitchFamily="34" charset="-120"/>
              </a:rPr>
              <a:t>Mejoras futuras propuestas</a:t>
            </a:r>
            <a:endParaRPr lang="en-US" sz="1350" dirty="0"/>
          </a:p>
        </p:txBody>
      </p:sp>
      <p:sp>
        <p:nvSpPr>
          <p:cNvPr id="15" name="Text 7"/>
          <p:cNvSpPr/>
          <p:nvPr/>
        </p:nvSpPr>
        <p:spPr>
          <a:xfrm>
            <a:off x="6160815" y="2405807"/>
            <a:ext cx="2339801" cy="2146995"/>
          </a:xfrm>
          <a:prstGeom prst="rect">
            <a:avLst/>
          </a:prstGeom>
          <a:noFill/>
          <a:ln/>
        </p:spPr>
        <p:txBody>
          <a:bodyPr wrap="square" lIns="0" tIns="0" rIns="0" bIns="0" rtlCol="0" anchor="t">
            <a:normAutofit/>
          </a:bodyPr>
          <a:lstStyle/>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Integración API real:</a:t>
            </a:r>
            <a:r>
              <a:rPr lang="en-US" sz="1000" dirty="0">
                <a:solidFill>
                  <a:srgbClr val="383838"/>
                </a:solidFill>
                <a:latin typeface="DM Sans" pitchFamily="34" charset="0"/>
                <a:ea typeface="DM Sans" pitchFamily="34" charset="-122"/>
                <a:cs typeface="DM Sans" pitchFamily="34" charset="-120"/>
              </a:rPr>
              <a:t> Conectar con OpenAI, Hugging Face u otro LLM.</a:t>
            </a:r>
            <a:endParaRPr lang="en-US" sz="1000" dirty="0"/>
          </a:p>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Interfaz de usuario (UI):</a:t>
            </a:r>
            <a:r>
              <a:rPr lang="en-US" sz="1000" dirty="0">
                <a:solidFill>
                  <a:srgbClr val="383838"/>
                </a:solidFill>
                <a:latin typeface="DM Sans" pitchFamily="34" charset="0"/>
                <a:ea typeface="DM Sans" pitchFamily="34" charset="-122"/>
                <a:cs typeface="DM Sans" pitchFamily="34" charset="-120"/>
              </a:rPr>
              <a:t> Desarrollar una GUI simple con Flask o Streamlit.</a:t>
            </a:r>
            <a:endParaRPr lang="en-US" sz="1000" dirty="0"/>
          </a:p>
          <a:p>
            <a:pPr marL="203200" indent="-203200" algn="l">
              <a:lnSpc>
                <a:spcPct val="129000"/>
              </a:lnSpc>
              <a:buSzPct val="100000"/>
              <a:buChar char="•"/>
            </a:pPr>
            <a:r>
              <a:rPr lang="en-US" sz="1000" b="1" dirty="0">
                <a:solidFill>
                  <a:srgbClr val="383838"/>
                </a:solidFill>
                <a:latin typeface="DM Sans Bold" pitchFamily="34" charset="0"/>
                <a:ea typeface="DM Sans Bold" pitchFamily="34" charset="-122"/>
                <a:cs typeface="DM Sans Bold" pitchFamily="34" charset="-120"/>
              </a:rPr>
              <a:t>Funcionalidades avanzadas:</a:t>
            </a:r>
            <a:r>
              <a:rPr lang="en-US" sz="1000" dirty="0">
                <a:solidFill>
                  <a:srgbClr val="383838"/>
                </a:solidFill>
                <a:latin typeface="DM Sans" pitchFamily="34" charset="0"/>
                <a:ea typeface="DM Sans" pitchFamily="34" charset="-122"/>
                <a:cs typeface="DM Sans" pitchFamily="34" charset="-120"/>
              </a:rPr>
              <a:t> Añadir caché de respuestas, historial de prompts y validación de esquemas JSON.</a:t>
            </a:r>
            <a:endParaRPr lang="en-US" sz="1000" dirty="0"/>
          </a:p>
        </p:txBody>
      </p:sp>
      <p:pic>
        <p:nvPicPr>
          <p:cNvPr id="16" name="Picture 2" descr="Hojas en Blanco | PDF">
            <a:extLst>
              <a:ext uri="{FF2B5EF4-FFF2-40B4-BE49-F238E27FC236}">
                <a16:creationId xmlns:a16="http://schemas.microsoft.com/office/drawing/2014/main" id="{8B838C5A-9ECE-4C5F-9809-CA0680F559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86375" y="4736037"/>
            <a:ext cx="3857625" cy="382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671</Words>
  <Application>Microsoft Office PowerPoint</Application>
  <PresentationFormat>Presentación en pantalla (16:9)</PresentationFormat>
  <Paragraphs>65</Paragraphs>
  <Slides>5</Slides>
  <Notes>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vt:i4>
      </vt:variant>
    </vt:vector>
  </HeadingPairs>
  <TitlesOfParts>
    <vt:vector size="12" baseType="lpstr">
      <vt:lpstr>Arial</vt:lpstr>
      <vt:lpstr>Calibri</vt:lpstr>
      <vt:lpstr>Consolas</vt:lpstr>
      <vt:lpstr>DM Sans</vt:lpstr>
      <vt:lpstr>DM Sans Bold</vt:lpstr>
      <vt:lpstr>PT Serif</vt:lpstr>
      <vt:lpstr>Office Theme</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USER</dc:creator>
  <cp:lastModifiedBy>Hernan Medina</cp:lastModifiedBy>
  <cp:revision>2</cp:revision>
  <dcterms:created xsi:type="dcterms:W3CDTF">2026-08-10T21:24:34Z</dcterms:created>
  <dcterms:modified xsi:type="dcterms:W3CDTF">2026-08-10T21:28:11Z</dcterms:modified>
</cp:coreProperties>
</file>